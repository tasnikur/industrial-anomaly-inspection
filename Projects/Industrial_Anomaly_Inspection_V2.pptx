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97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2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0">
            <a:extLst>
              <a:ext uri="{FF2B5EF4-FFF2-40B4-BE49-F238E27FC236}">
                <a16:creationId xmlns:a16="http://schemas.microsoft.com/office/drawing/2014/main" id="{A60CFFE3-AA8B-FD08-087C-47D2223E38F8}"/>
              </a:ext>
            </a:extLst>
          </p:cNvPr>
          <p:cNvSpPr/>
          <p:nvPr/>
        </p:nvSpPr>
        <p:spPr>
          <a:xfrm>
            <a:off x="4487091" y="2679718"/>
            <a:ext cx="2893422" cy="175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-65314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7674" y="0"/>
            <a:ext cx="1645920" cy="5143500"/>
          </a:xfrm>
          <a:prstGeom prst="rect">
            <a:avLst/>
          </a:prstGeom>
          <a:solidFill>
            <a:srgbClr val="0B1428"/>
          </a:solidFill>
          <a:ln w="12700">
            <a:solidFill>
              <a:srgbClr val="0B14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731520"/>
            <a:ext cx="2194560" cy="219456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188720"/>
            <a:ext cx="1280160" cy="1280160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BANGLADESH UNIVERSITY OF BUSINESS &amp; TECHNOLOGY (BUBT)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"/>
            <a:ext cx="3200400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669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Anomaly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 Pipeline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End-to-End Machine Learning System for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Detection, Classification &amp; Decision Automation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24912"/>
            <a:ext cx="7178040" cy="1773936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" y="2690622"/>
            <a:ext cx="4754880" cy="151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5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26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MVTec AD Dataset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4526280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4526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452628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526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A29829A-70DC-459F-B0E2-63B946C0F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41451"/>
              </p:ext>
            </p:extLst>
          </p:nvPr>
        </p:nvGraphicFramePr>
        <p:xfrm>
          <a:off x="313509" y="2812728"/>
          <a:ext cx="7119257" cy="160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77">
                  <a:extLst>
                    <a:ext uri="{9D8B030D-6E8A-4147-A177-3AD203B41FA5}">
                      <a16:colId xmlns:a16="http://schemas.microsoft.com/office/drawing/2014/main" val="1180778434"/>
                    </a:ext>
                  </a:extLst>
                </a:gridCol>
                <a:gridCol w="2796861">
                  <a:extLst>
                    <a:ext uri="{9D8B030D-6E8A-4147-A177-3AD203B41FA5}">
                      <a16:colId xmlns:a16="http://schemas.microsoft.com/office/drawing/2014/main" val="198934944"/>
                    </a:ext>
                  </a:extLst>
                </a:gridCol>
                <a:gridCol w="2295419">
                  <a:extLst>
                    <a:ext uri="{9D8B030D-6E8A-4147-A177-3AD203B41FA5}">
                      <a16:colId xmlns:a16="http://schemas.microsoft.com/office/drawing/2014/main" val="1045720659"/>
                    </a:ext>
                  </a:extLst>
                </a:gridCol>
              </a:tblGrid>
              <a:tr h="3828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B0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Submitted by: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</a:rPr>
                        <a:t>Supervisor &amp; Course Teacher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078890"/>
                  </a:ext>
                </a:extLst>
              </a:tr>
              <a:tr h="327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Tasnikur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Sifat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20235203031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Fateha</a:t>
                      </a: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 Jannat </a:t>
                      </a:r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Ayrin</a:t>
                      </a:r>
                      <a:endParaRPr lang="en-US" sz="11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286447"/>
                  </a:ext>
                </a:extLst>
              </a:tr>
              <a:tr h="463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Muhammad Tanvir Ahmed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Rume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20235203016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Lecturer, Department of Computer Science and Engineering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750904"/>
                  </a:ext>
                </a:extLst>
              </a:tr>
              <a:tr h="43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Israt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Khan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Nobannyo</a:t>
                      </a:r>
                      <a:endParaRPr lang="en-US" sz="11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20235203008</a:t>
                      </a:r>
                      <a:endParaRPr lang="en-US" sz="1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Bangladesh University of Business and Technology (BUBT)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98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98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230"/>
          </a:solidFill>
          <a:ln w="12700">
            <a:solidFill>
              <a:srgbClr val="0D1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walkthrough of the complete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5029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2893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Motivation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66544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665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 MVTec 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17520"/>
            <a:ext cx="50292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19125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Extraction &amp; Severity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968496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68496"/>
            <a:ext cx="5029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6849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14223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Unsupervised Clustering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115568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115568"/>
            <a:ext cx="50292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1155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12893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 Comparison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066544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066544"/>
            <a:ext cx="5029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0665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2402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Decision Engine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017520"/>
            <a:ext cx="50292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17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19125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Contributions &amp; XAI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54880" y="3968496"/>
            <a:ext cx="4114800" cy="749808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968496"/>
            <a:ext cx="502920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6849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414223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Work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Motivation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automated defect inspection matters in modern manufacturing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4416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344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inspection is slow, inconsistent and expensive at scale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9397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842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error rates rise with fatigue — 20–30% miss rate in repetitive tasks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843784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340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Threshold-based systems fail to generalise across diverse defect types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9359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8386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automatic severity grading → poor triage of critical vs. minor issues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142232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34340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336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explainability in AI decisions hinders industrial adoption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60720" y="1143000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1143000"/>
            <a:ext cx="3017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760720" y="17830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Miss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0025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repetitive tasks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2404872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404872"/>
            <a:ext cx="301752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4963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5×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760720" y="3044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3264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AI automation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3666744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3666744"/>
            <a:ext cx="3017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7581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5760720" y="43068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Types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45262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MVTec benchmark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 MVTec Anomaly Detection (AD)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Industry-standard benchmark — 15+ product categories with ground-truth defect masks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4206240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1636776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Kaggle — ipythonx/mvtec-ad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Downloaded via Kaggle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43000"/>
            <a:ext cx="4206240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28616" y="1636776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 product categories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Ground-truth binary masks (PNG format)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98648"/>
            <a:ext cx="420624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962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Format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3392424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images — defect pixels &gt; 0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Processed with skimage.measure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89864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898648"/>
            <a:ext cx="42062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2962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Extracted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28616" y="3392424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· Eccentricity · Perimeter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% of total image area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45736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18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  Area &lt; 0.5%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474573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718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  0.5% – 2.0%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4745736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718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 Area ≥ 2.0%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230"/>
          </a:solidFill>
          <a:ln w="12700">
            <a:solidFill>
              <a:srgbClr val="0D1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Five-stage automated workflow — from raw masks to factory decisions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572768" cy="3383280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1572768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43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207008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60320"/>
            <a:ext cx="1572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MVTec AD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Ground-truth masks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47672" y="2697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93976" y="1143000"/>
            <a:ext cx="1572768" cy="3383280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3976" y="1143000"/>
            <a:ext cx="1572768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93976" y="1143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93976" y="17099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76856" y="2423160"/>
            <a:ext cx="1207008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3976" y="2560320"/>
            <a:ext cx="1572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· Eccentricity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Perimeter · Severity 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21608" y="2697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67912" y="1143000"/>
            <a:ext cx="1572768" cy="3383280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67912" y="1143000"/>
            <a:ext cx="157276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1143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67912" y="17099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50792" y="2423160"/>
            <a:ext cx="1207008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2560320"/>
            <a:ext cx="1572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k=4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Unsupervised typing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95544" y="2697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41848" y="1143000"/>
            <a:ext cx="1572768" cy="3383280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41848" y="1143000"/>
            <a:ext cx="1572768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1848" y="1143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41848" y="17099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24728" y="2423160"/>
            <a:ext cx="1207008" cy="274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41848" y="2560320"/>
            <a:ext cx="1572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ML Models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 ranked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69480" y="2697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15784" y="1143000"/>
            <a:ext cx="1572768" cy="3383280"/>
          </a:xfrm>
          <a:prstGeom prst="rect">
            <a:avLst/>
          </a:prstGeom>
          <a:solidFill>
            <a:srgbClr val="0F1A3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15784" y="1143000"/>
            <a:ext cx="157276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15784" y="11430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15784" y="17099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98664" y="2423160"/>
            <a:ext cx="1207008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5784" y="2560320"/>
            <a:ext cx="1572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Repair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Reject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output feeds directly into the next — creating a fully automated, explainable inspection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Feature Extraction &amp; Severity Scoring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Geometric properties extracted from binary defect masks using skimage.measure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15568"/>
            <a:ext cx="1993392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defect pixel count extracted from the binary mask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688336"/>
            <a:ext cx="1810512" cy="256032"/>
          </a:xfrm>
          <a:prstGeom prst="roundRect">
            <a:avLst>
              <a:gd name="adj" fmla="val 10714"/>
            </a:avLst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 pixels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87168" y="111556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115568"/>
            <a:ext cx="199339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115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Eccentricity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1645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Shape elongation — 0 = circle, 1 = line. Captures defect shape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78608" y="2688336"/>
            <a:ext cx="1810512" cy="256032"/>
          </a:xfrm>
          <a:prstGeom prst="roundRect">
            <a:avLst>
              <a:gd name="adj" fmla="val 10714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 0.0 – 1.0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11556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115568"/>
            <a:ext cx="199339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115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Perimeter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18304" y="1645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Boundary length of the defect contour in pixels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18304" y="2688336"/>
            <a:ext cx="1810512" cy="256032"/>
          </a:xfrm>
          <a:prstGeom prst="roundRect">
            <a:avLst>
              <a:gd name="adj" fmla="val 10714"/>
            </a:avLst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 pixels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66560" y="111556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115568"/>
            <a:ext cx="19933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1155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1645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area as percentage of total image surface — used for severity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2688336"/>
            <a:ext cx="1810512" cy="256032"/>
          </a:xfrm>
          <a:prstGeom prst="roundRect">
            <a:avLst>
              <a:gd name="adj" fmla="val 10714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 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3154680"/>
            <a:ext cx="844905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Thresholding Logic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" y="3547872"/>
            <a:ext cx="23774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Level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0" y="3547872"/>
            <a:ext cx="23774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3547872"/>
            <a:ext cx="23774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Decision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" y="3858768"/>
            <a:ext cx="23774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" y="3858768"/>
            <a:ext cx="54864" cy="3017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8953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26080" y="3858768"/>
            <a:ext cx="23774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8953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% &lt; 0.5%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60720" y="3858768"/>
            <a:ext cx="23774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38953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— passes to next stage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" y="4187952"/>
            <a:ext cx="2377440" cy="30175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" y="4187952"/>
            <a:ext cx="54864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926080" y="4187952"/>
            <a:ext cx="2377440" cy="30175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99232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0.5% ≤ Area % &lt; 2.0%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760720" y="4187952"/>
            <a:ext cx="2377440" cy="30175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Repair — flag for rework station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" y="4517136"/>
            <a:ext cx="23774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" y="4517136"/>
            <a:ext cx="54864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926080" y="4517136"/>
            <a:ext cx="23774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9232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% ≥ 2.0%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760720" y="4517136"/>
            <a:ext cx="23774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33872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 — discard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230"/>
          </a:solidFill>
          <a:ln w="12700">
            <a:solidFill>
              <a:srgbClr val="0D1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Unsupervised Defect Clustering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(k=4) discovers defect types from geometric features — no labels required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261872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16093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Inclusion / Scratch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" y="19933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Tiny localised marks from minor tool contact. Low area, compact shape.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71416" y="1097280"/>
            <a:ext cx="54864" cy="17190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97280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6904" y="1261872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46904" y="16093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Irregular Defect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46904" y="19933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Extensive deformation or fracture. High area, irregular eccentricity.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06256" y="1097280"/>
            <a:ext cx="54864" cy="1719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99232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3163824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1638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2064" y="35112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Contamination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2064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or combined anomaly — contamination spread across the surface.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71416" y="2999232"/>
            <a:ext cx="54864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999232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46904" y="3163824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31638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46904" y="35112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 Surface Anomaly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46904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bent features or light surface scratches. Low severity risk.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06256" y="2999232"/>
            <a:ext cx="54864" cy="17190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features standardised with StandardScaler before K-Means  |  Cluster ID added as feature for downstream ML models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— ML Model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classifiers trained and ranked by weighted F1-Score on an 80/20 stratified split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207008"/>
            <a:ext cx="47548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07008"/>
            <a:ext cx="4469587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21347" y="1207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8105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901952"/>
            <a:ext cx="47548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901952"/>
            <a:ext cx="437449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6250" y="1901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5054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2596896"/>
            <a:ext cx="47548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596896"/>
            <a:ext cx="4231843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3603" y="25968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3291840"/>
            <a:ext cx="47548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291840"/>
            <a:ext cx="4089197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0957" y="3291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8953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3986784"/>
            <a:ext cx="47548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986784"/>
            <a:ext cx="3708806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0566" y="39867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1115568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1115568"/>
            <a:ext cx="27889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11556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89320" y="15910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2139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23774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6172200" y="2999232"/>
            <a:ext cx="2423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090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Robust to class imbalance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3410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Handles feature interactions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3730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scaling required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4050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Saved as .pkl for deployment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773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 Area · Eccentricity · Perimeter · Cluster ID  |  Target: Severity (Minor / Moderate / Critical)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— Automated Production Decision Engine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severity predictions are mapped directly to factory floor 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7432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≥ 2.0% of surface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91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7432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2311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1945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Discard component immediately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8163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77977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sent to supervisor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340156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3649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logged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9867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9502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rework attempted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1115568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371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0.5% – 2.0%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159105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591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REPAIR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91840" y="2103120"/>
            <a:ext cx="27432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56432" y="22311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94176" y="21945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component for rework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28163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94176" y="277977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Inspector re-evaluates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56432" y="34015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4176" y="33649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Re-classified post-repair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56432" y="39867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94176" y="39502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Documented in audit trail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115568"/>
            <a:ext cx="27432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1371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&lt; 0.5% of surface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159105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591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ACCEPT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920" y="2103120"/>
            <a:ext cx="27432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22311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21945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passes inspection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82512" y="281635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77977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Moves to next production stage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82512" y="3401568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0256" y="33649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automatically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82512" y="398678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0256" y="39502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manual review needed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230"/>
          </a:solidFill>
          <a:ln w="12700">
            <a:solidFill>
              <a:srgbClr val="0D1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Contributions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novel components that extend and improve standard inspection pipelines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457200" cy="17190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457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AI (XAI)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664208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scores + confusion matrices expose model reasoning. Severity categories translate raw model scores into actionable, human-understandable outcomes.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97280"/>
            <a:ext cx="457200" cy="17190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457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Report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664208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Per-defect reports generated automatically — including defect type, cluster ID, affected area %, predicted severity, and potential manufacturing cause.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99232"/>
            <a:ext cx="457200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99232"/>
            <a:ext cx="457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1821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Timeline Simulation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progressive defect growth by scaling masks 0.5× → 2.0×. Demonstrates model severity transitions at each growth stage for early warning.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999232"/>
            <a:ext cx="4160520" cy="1719072"/>
          </a:xfrm>
          <a:prstGeom prst="rect">
            <a:avLst/>
          </a:prstGeom>
          <a:solidFill>
            <a:srgbClr val="0D1830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99232"/>
            <a:ext cx="457200" cy="1719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99232"/>
            <a:ext cx="457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1821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Decision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5661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ML output to the factory floor: Critical → Reject, Moderate → Repair, Minor → Accept. Fully automated, auditable, and explainable.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Key Findings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performance metrics and validated outcomes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19933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1993392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F1-Score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115568"/>
            <a:ext cx="19933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1115568"/>
            <a:ext cx="1993392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207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542032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Clusters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2121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18304" y="1115568"/>
            <a:ext cx="19933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8304" y="1115568"/>
            <a:ext cx="19933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207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718304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Levels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121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94576" y="1115568"/>
            <a:ext cx="19933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94576" y="1115568"/>
            <a:ext cx="1993392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207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894576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2121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743200"/>
            <a:ext cx="84307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743200"/>
            <a:ext cx="84307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2004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1546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(94% F1) outperformed all models — robust to class imbalance and geometric feature correlations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52958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4838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successfully separated 4 distinct defect morphologies from raw geometric features without labels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85876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81304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thresholding achieves high recall on Critical defects — minimising dangerous false-accepts in production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1879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14223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timeline simulation showed clear severity transitions at ~1.0× → 1.3× defect growth factor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51713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47141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 runs fully automated from raw mask ingestion to production decision output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80E1C"/>
          </a:solidFill>
          <a:ln w="12700">
            <a:solidFill>
              <a:srgbClr val="080E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A1526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4572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Future Work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" y="777240"/>
            <a:ext cx="416052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00584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804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5-stage industrial inspection pipeline implemented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581912"/>
            <a:ext cx="416052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181051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6093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 F1-Score with Random Forest on MVTec AD masks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386584"/>
            <a:ext cx="416052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61518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4140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clustered defects into 4 meaningful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191256"/>
            <a:ext cx="416052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41985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2186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decisions fully automated (Accept / Repair / Reject)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995928"/>
            <a:ext cx="416052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22452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023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XAI, report generation &amp; timeline simulation delivered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777240"/>
            <a:ext cx="388620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7488" y="100584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8046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/ LIME for pixel-level explainability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1581912"/>
            <a:ext cx="388620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181051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16093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/ EfficientNet backbone for raw image input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2386584"/>
            <a:ext cx="388620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261518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24140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Multi-camera 3D inspection simulation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3191256"/>
            <a:ext cx="388620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47488" y="341985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32186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defect generation via Diffusion Models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19472" y="3995928"/>
            <a:ext cx="3886200" cy="658368"/>
          </a:xfrm>
          <a:prstGeom prst="rect">
            <a:avLst/>
          </a:prstGeom>
          <a:solidFill>
            <a:srgbClr val="0F1E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47488" y="422452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40233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ONNX edge inference deployment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0" y="4681728"/>
            <a:ext cx="640080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1093</Words>
  <Application>Microsoft Office PowerPoint</Application>
  <PresentationFormat>On-screen Show (16:9)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Tanvir Ahmed</cp:lastModifiedBy>
  <cp:revision>3</cp:revision>
  <dcterms:created xsi:type="dcterms:W3CDTF">2026-08-18T01:55:50Z</dcterms:created>
  <dcterms:modified xsi:type="dcterms:W3CDTF">2026-08-18T03:09:42Z</dcterms:modified>
</cp:coreProperties>
</file>